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2" r:id="rId5"/>
    <p:sldId id="263" r:id="rId6"/>
    <p:sldId id="264" r:id="rId7"/>
    <p:sldId id="266" r:id="rId8"/>
    <p:sldId id="270" r:id="rId9"/>
    <p:sldId id="269" r:id="rId10"/>
    <p:sldId id="267" r:id="rId11"/>
    <p:sldId id="268" r:id="rId12"/>
    <p:sldId id="265" r:id="rId13"/>
    <p:sldId id="273" r:id="rId14"/>
    <p:sldId id="261" r:id="rId15"/>
    <p:sldId id="274" r:id="rId16"/>
    <p:sldId id="258" r:id="rId17"/>
    <p:sldId id="259" r:id="rId18"/>
    <p:sldId id="271" r:id="rId19"/>
    <p:sldId id="256" r:id="rId20"/>
    <p:sldId id="260" r:id="rId21"/>
    <p:sldId id="275" r:id="rId2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DDAB6-2C4E-1842-DA17-5A0A492B6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FC4ED0-3B54-93BE-D3F4-91F3A4099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DC00F6F-C22B-535E-4537-488A3A6A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111859-C854-48B5-C190-529E9867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FC998D-06C0-A178-B0A1-90E3CE665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4814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ED1E7-E359-76BE-AAFC-DE06CA7D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96CF6C-0CB5-69EA-39A7-9A44BF4DE3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CA3017-D672-FBDE-5A64-A519984A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B92BFA-80C7-99B8-46EC-2AB4CE816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EE161D-B582-00C6-5FBF-566C9386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604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ACAF7-99F3-5D5F-E1AD-D2D8AE419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6D3585-E420-4B8E-689B-232CCDA23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37390E-C255-8B6C-0C9C-884F047D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C419D7-125A-8C20-B5E8-99BABD8E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8C1907-1A31-2D45-E8BD-E307184D6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5574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4FA5AD-1C46-DC81-A37B-2E3E85A5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BD7D2B-955E-95E5-524F-819D4587C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E85EDFD-24A1-670D-5AAC-1D0D62EC6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41ED67-4544-B9B1-AC7F-DED32CCF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FEA82A-B960-3BF5-0E33-0C66F699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5B96E0-EB09-0340-07AF-38ECC34F1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3106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A008E-A294-E80C-4808-A1CFB8FE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D1CEB0-5B03-F3A1-D856-144513926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F1AE24-2B63-F886-BF51-9A4768CB60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F7C7EDA-0164-E808-6228-5ED5848F0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68E2AA4-0B6A-0F5C-34EB-AF72F9838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394F8FF-C548-D167-73EC-C5F9AE874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8F611F-B764-6148-AB99-178F23E48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525D9B-1529-2D06-CAD7-DF680FD12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3672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321F-B9B4-892B-49F5-4ECE4BF2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79B7C9-F627-00FF-A346-DC216565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6334878-C667-6909-48CB-0CDA8B3E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794F26-C532-96CE-C55D-2E662592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3484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9C1DF7-C8BC-5BBA-76CA-22090AA3E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54DBED-84A9-1A92-6F84-4DDC4B82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F5527F-6983-52E3-F25E-E2C27CD1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2092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D0961-8B1B-F975-2419-542A9006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66EB85-DED5-0FF1-A342-6E4768A04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25C963-3468-B0C5-D54C-68BB952C5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BFAE8FC-B9D7-A3B6-9B3A-D3A10F45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3AC9ED-04C3-1B8F-0183-EB6F7FFED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560CB7-B000-E656-776B-46125362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4116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25F1C-0049-1777-8150-8FCB97511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FF43E94-A100-15DA-964B-8088F5A5F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89DD0-F0ED-423E-8075-C6C5B71E1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6B493E9-450B-3AB4-91BB-ECC2F147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439462-4FAD-1E1E-0944-6FC2F0C3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895549-3CFC-EBFC-AAC0-40F3E220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1894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1FE75-4CC4-7563-46C1-B1EEEE9C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8B06A2-B3A6-3218-41B5-23D694A64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EC2502-8EA9-FA6B-7A66-31DA436D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907017-8429-4031-0997-B8B6FC426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F05308-AB9A-090B-98F7-6C461055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1909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C1426D-FAD5-4883-00F1-B61E23BEC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C4EE36-8BD0-8219-EA86-2273C1B03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242B57-5C46-7C18-2D76-AABB4BEC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A2753-6060-8B04-FD94-6C8FEF037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EC954C-C14D-0C53-1B6B-ABAFEC52A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0243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BFE33B-FB85-1915-2137-746B587F3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DBBE27-FD9C-0303-D55D-C65E5F1ED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662DDD-DD22-DBF5-B484-A1EC94FDE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ADDE98-25BB-48B1-A5C9-18F311171BF6}" type="datetimeFigureOut">
              <a:rPr lang="es-CL" smtClean="0"/>
              <a:t>22-07-2025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73AFAE-FB64-9BD7-B3F2-6FF51CD693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875719-EADD-596E-885E-80574745C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D546D-8636-4831-91C8-29CABE120E8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1521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FD8222-0FCC-2945-95EE-23C82C87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Blastn: Settings</a:t>
            </a:r>
          </a:p>
        </p:txBody>
      </p:sp>
      <p:pic>
        <p:nvPicPr>
          <p:cNvPr id="4" name="Imagen 3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70B66E31-1246-0663-DE41-C549711A9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47" y="3150237"/>
            <a:ext cx="5886821" cy="2133972"/>
          </a:xfrm>
          <a:prstGeom prst="rect">
            <a:avLst/>
          </a:prstGeom>
        </p:spPr>
      </p:pic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BF6B530-40EB-B803-11F3-1302159D1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040" y="2517058"/>
            <a:ext cx="5131087" cy="3399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850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90326827-2B97-AF37-E7A4-91EA06D27D66}"/>
              </a:ext>
            </a:extLst>
          </p:cNvPr>
          <p:cNvSpPr/>
          <p:nvPr/>
        </p:nvSpPr>
        <p:spPr>
          <a:xfrm>
            <a:off x="324169" y="971448"/>
            <a:ext cx="1443790" cy="981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C5FC29F-1A19-2AA6-7AA3-09A1EC774E28}"/>
              </a:ext>
            </a:extLst>
          </p:cNvPr>
          <p:cNvSpPr/>
          <p:nvPr/>
        </p:nvSpPr>
        <p:spPr>
          <a:xfrm>
            <a:off x="793907" y="900396"/>
            <a:ext cx="1344168" cy="89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E7E3287-E9B7-E064-6C5A-F61FF3661C3B}"/>
              </a:ext>
            </a:extLst>
          </p:cNvPr>
          <p:cNvSpPr/>
          <p:nvPr/>
        </p:nvSpPr>
        <p:spPr>
          <a:xfrm>
            <a:off x="793907" y="900396"/>
            <a:ext cx="1344168" cy="89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96FF4AC5-DB43-F0E1-DD32-682C8F9B3CE5}"/>
              </a:ext>
            </a:extLst>
          </p:cNvPr>
          <p:cNvGrpSpPr/>
          <p:nvPr/>
        </p:nvGrpSpPr>
        <p:grpSpPr>
          <a:xfrm>
            <a:off x="1074639" y="1269746"/>
            <a:ext cx="9795330" cy="4060258"/>
            <a:chOff x="1074639" y="1269746"/>
            <a:chExt cx="9795330" cy="4060258"/>
          </a:xfrm>
        </p:grpSpPr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C1C22196-9432-BEFE-FD05-D5C6F332FC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4936" y="1348452"/>
              <a:ext cx="9705033" cy="3981552"/>
            </a:xfrm>
            <a:prstGeom prst="rect">
              <a:avLst/>
            </a:prstGeom>
          </p:spPr>
        </p:pic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E43236F5-3616-48F7-02FB-F104A980A659}"/>
                </a:ext>
              </a:extLst>
            </p:cNvPr>
            <p:cNvSpPr/>
            <p:nvPr/>
          </p:nvSpPr>
          <p:spPr>
            <a:xfrm>
              <a:off x="1074639" y="1269746"/>
              <a:ext cx="1258224" cy="7989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</p:spTree>
    <p:extLst>
      <p:ext uri="{BB962C8B-B14F-4D97-AF65-F5344CB8AC3E}">
        <p14:creationId xmlns:p14="http://schemas.microsoft.com/office/powerpoint/2010/main" val="268438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CE97655-F96B-B32B-5A83-FCA478988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9107171" cy="62873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0ED6149-42CC-31F1-9E73-A2D92AD09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0128"/>
            <a:ext cx="4270248" cy="157484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954729C8-BDF7-D184-2787-B7A267E93FCD}"/>
              </a:ext>
            </a:extLst>
          </p:cNvPr>
          <p:cNvSpPr txBox="1"/>
          <p:nvPr/>
        </p:nvSpPr>
        <p:spPr>
          <a:xfrm>
            <a:off x="1554480" y="890796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ACB30F1-E7B8-5F1B-B4FD-0C57DDF70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087886"/>
            <a:ext cx="4270247" cy="155393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8DFFF09-D8EE-8FFF-DC00-0D117E760034}"/>
              </a:ext>
            </a:extLst>
          </p:cNvPr>
          <p:cNvSpPr txBox="1"/>
          <p:nvPr/>
        </p:nvSpPr>
        <p:spPr>
          <a:xfrm>
            <a:off x="1554480" y="2889255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2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B7056E1-5A24-5F38-A999-B77C074F6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0" y="5147645"/>
            <a:ext cx="4293631" cy="1569649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F1E77332-1E7C-BBE5-DD1D-57A8B1A59F4F}"/>
              </a:ext>
            </a:extLst>
          </p:cNvPr>
          <p:cNvSpPr txBox="1"/>
          <p:nvPr/>
        </p:nvSpPr>
        <p:spPr>
          <a:xfrm>
            <a:off x="1603921" y="4840447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3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F355B11-571E-E5B2-0129-F5FACD4817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6406" y="1260128"/>
            <a:ext cx="4270248" cy="1588361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ADB03958-B867-293C-BAD7-8C7AE0EF0743}"/>
              </a:ext>
            </a:extLst>
          </p:cNvPr>
          <p:cNvSpPr txBox="1"/>
          <p:nvPr/>
        </p:nvSpPr>
        <p:spPr>
          <a:xfrm>
            <a:off x="6699333" y="890796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4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6819CA24-200A-0C83-DF48-5CC41453674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531"/>
          <a:stretch>
            <a:fillRect/>
          </a:stretch>
        </p:blipFill>
        <p:spPr>
          <a:xfrm>
            <a:off x="5306406" y="3225566"/>
            <a:ext cx="4270247" cy="1469015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152A6C29-A753-04B5-9B29-E94870E5350F}"/>
              </a:ext>
            </a:extLst>
          </p:cNvPr>
          <p:cNvSpPr txBox="1"/>
          <p:nvPr/>
        </p:nvSpPr>
        <p:spPr>
          <a:xfrm>
            <a:off x="6699333" y="2903220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5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7FBA153-4CD4-FBA0-90D4-759C6965C1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6407" y="5146556"/>
            <a:ext cx="4270247" cy="1562285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A5811D03-EDF0-924E-2855-DF83BAE53FD6}"/>
              </a:ext>
            </a:extLst>
          </p:cNvPr>
          <p:cNvSpPr txBox="1"/>
          <p:nvPr/>
        </p:nvSpPr>
        <p:spPr>
          <a:xfrm>
            <a:off x="6699333" y="4840447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6</a:t>
            </a:r>
          </a:p>
        </p:txBody>
      </p:sp>
    </p:spTree>
    <p:extLst>
      <p:ext uri="{BB962C8B-B14F-4D97-AF65-F5344CB8AC3E}">
        <p14:creationId xmlns:p14="http://schemas.microsoft.com/office/powerpoint/2010/main" val="189193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8F395-E08E-D08E-C364-744DA99F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739F97-AFE5-F7E1-CF0D-3FF63069A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"/>
            <a:ext cx="9107171" cy="6287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D26291-6706-7E31-948A-03BAAC054AF3}"/>
              </a:ext>
            </a:extLst>
          </p:cNvPr>
          <p:cNvSpPr txBox="1"/>
          <p:nvPr/>
        </p:nvSpPr>
        <p:spPr>
          <a:xfrm>
            <a:off x="4270248" y="637882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7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5BA60FA-11CB-136C-B009-372F796DAD11}"/>
              </a:ext>
            </a:extLst>
          </p:cNvPr>
          <p:cNvSpPr txBox="1"/>
          <p:nvPr/>
        </p:nvSpPr>
        <p:spPr>
          <a:xfrm>
            <a:off x="4270248" y="2212726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8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15B82A3-9A3E-096E-F2EF-5228724636B2}"/>
              </a:ext>
            </a:extLst>
          </p:cNvPr>
          <p:cNvSpPr txBox="1"/>
          <p:nvPr/>
        </p:nvSpPr>
        <p:spPr>
          <a:xfrm>
            <a:off x="4293631" y="3766656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9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0437BD3-DFAB-49FC-64F0-B08EBE2C96D4}"/>
              </a:ext>
            </a:extLst>
          </p:cNvPr>
          <p:cNvSpPr txBox="1"/>
          <p:nvPr/>
        </p:nvSpPr>
        <p:spPr>
          <a:xfrm>
            <a:off x="9576655" y="603449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10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871B4FB-56C4-CCEF-D987-9B947C452F63}"/>
              </a:ext>
            </a:extLst>
          </p:cNvPr>
          <p:cNvSpPr txBox="1"/>
          <p:nvPr/>
        </p:nvSpPr>
        <p:spPr>
          <a:xfrm>
            <a:off x="9701783" y="2202268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11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35CB8C0-0291-C40F-1A03-75E149951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706"/>
            <a:ext cx="4264763" cy="15475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337AC7A-D917-1E8C-D291-D82E5FF12F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3206"/>
            <a:ext cx="4264763" cy="157954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E2A4FFB-39C3-B79A-EAC0-20177CAA2F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28050"/>
            <a:ext cx="4293631" cy="156300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806A867-8242-92AE-BDF7-25E8797E61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8091" y="616147"/>
            <a:ext cx="4204644" cy="154750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1BE8AA85-1BF1-8D31-71D4-0EE570BECE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3651" y="2153206"/>
            <a:ext cx="4333004" cy="154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21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7D10-BA60-FE16-DAB9-B43FEA4C9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68F45-A1F4-09D6-9D30-9827853F8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6131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/>
              <a:t>Blastx</a:t>
            </a:r>
            <a:r>
              <a:rPr lang="en-US" sz="4000" dirty="0"/>
              <a:t>: Settings</a:t>
            </a:r>
          </a:p>
        </p:txBody>
      </p:sp>
      <p:pic>
        <p:nvPicPr>
          <p:cNvPr id="7" name="Imagen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D9E28A22-4A5E-0D0E-C61D-3C1D1F7E0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54" y="802450"/>
            <a:ext cx="9329157" cy="2778269"/>
          </a:xfrm>
          <a:prstGeom prst="rect">
            <a:avLst/>
          </a:prstGeom>
        </p:spPr>
      </p:pic>
      <p:pic>
        <p:nvPicPr>
          <p:cNvPr id="8" name="Imagen 7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BA6E5F99-5CF5-BB07-18BB-EB908CF7C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54" y="3580719"/>
            <a:ext cx="9329157" cy="297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063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C00B-7174-1834-1AAF-FD5DFD743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o 20">
            <a:extLst>
              <a:ext uri="{FF2B5EF4-FFF2-40B4-BE49-F238E27FC236}">
                <a16:creationId xmlns:a16="http://schemas.microsoft.com/office/drawing/2014/main" id="{56A49F8D-53C7-45AC-2DC1-E179E56F5CB2}"/>
              </a:ext>
            </a:extLst>
          </p:cNvPr>
          <p:cNvGrpSpPr/>
          <p:nvPr/>
        </p:nvGrpSpPr>
        <p:grpSpPr>
          <a:xfrm>
            <a:off x="303841" y="1307302"/>
            <a:ext cx="11289595" cy="3644267"/>
            <a:chOff x="303841" y="1307302"/>
            <a:chExt cx="11289595" cy="3644267"/>
          </a:xfrm>
        </p:grpSpPr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1B620F01-8F21-6476-79B7-6C69862DA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117" y="1332070"/>
              <a:ext cx="11255319" cy="3619499"/>
            </a:xfrm>
            <a:prstGeom prst="rect">
              <a:avLst/>
            </a:prstGeom>
          </p:spPr>
        </p:pic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1F70F3B1-CB66-23A0-D110-2CA6459F5E48}"/>
                </a:ext>
              </a:extLst>
            </p:cNvPr>
            <p:cNvSpPr/>
            <p:nvPr/>
          </p:nvSpPr>
          <p:spPr>
            <a:xfrm>
              <a:off x="303841" y="1307302"/>
              <a:ext cx="1162050" cy="4933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170422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831B5-6BF5-1C75-D5D8-4A14553B4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AF91E7A-CBCF-C968-B774-60DC801DB16C}"/>
              </a:ext>
            </a:extLst>
          </p:cNvPr>
          <p:cNvSpPr txBox="1"/>
          <p:nvPr/>
        </p:nvSpPr>
        <p:spPr>
          <a:xfrm>
            <a:off x="4270248" y="637882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F91E96E-9575-D452-6263-51D7F865C53C}"/>
              </a:ext>
            </a:extLst>
          </p:cNvPr>
          <p:cNvSpPr txBox="1"/>
          <p:nvPr/>
        </p:nvSpPr>
        <p:spPr>
          <a:xfrm>
            <a:off x="4270248" y="1917258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53C520-41C9-4072-BCE3-3EE1066355DB}"/>
              </a:ext>
            </a:extLst>
          </p:cNvPr>
          <p:cNvSpPr txBox="1"/>
          <p:nvPr/>
        </p:nvSpPr>
        <p:spPr>
          <a:xfrm>
            <a:off x="4275866" y="3020925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3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844821-28B3-4912-7E14-8665D481C165}"/>
              </a:ext>
            </a:extLst>
          </p:cNvPr>
          <p:cNvSpPr txBox="1"/>
          <p:nvPr/>
        </p:nvSpPr>
        <p:spPr>
          <a:xfrm>
            <a:off x="4293631" y="4186402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4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37F834A-08AA-0F3A-7C05-79ACE7B68197}"/>
              </a:ext>
            </a:extLst>
          </p:cNvPr>
          <p:cNvSpPr txBox="1"/>
          <p:nvPr/>
        </p:nvSpPr>
        <p:spPr>
          <a:xfrm>
            <a:off x="4270248" y="5345600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5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8A986DE-FA49-0079-82C0-0C4FA28542C9}"/>
              </a:ext>
            </a:extLst>
          </p:cNvPr>
          <p:cNvSpPr txBox="1"/>
          <p:nvPr/>
        </p:nvSpPr>
        <p:spPr>
          <a:xfrm>
            <a:off x="10445335" y="395612"/>
            <a:ext cx="116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Query 6</a:t>
            </a:r>
          </a:p>
        </p:txBody>
      </p:sp>
      <p:pic>
        <p:nvPicPr>
          <p:cNvPr id="7" name="Imagen 6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FE115D4D-45C3-9676-1EB9-30CEE787E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252"/>
          <a:stretch>
            <a:fillRect/>
          </a:stretch>
        </p:blipFill>
        <p:spPr>
          <a:xfrm>
            <a:off x="0" y="0"/>
            <a:ext cx="4293631" cy="1552254"/>
          </a:xfrm>
          <a:prstGeom prst="rect">
            <a:avLst/>
          </a:prstGeom>
        </p:spPr>
      </p:pic>
      <p:pic>
        <p:nvPicPr>
          <p:cNvPr id="4" name="Imagen 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3884AED-C621-05F0-2A7B-A4272B3AC9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202"/>
          <a:stretch>
            <a:fillRect/>
          </a:stretch>
        </p:blipFill>
        <p:spPr>
          <a:xfrm>
            <a:off x="1" y="1554712"/>
            <a:ext cx="4270248" cy="1371367"/>
          </a:xfrm>
          <a:prstGeom prst="rect">
            <a:avLst/>
          </a:prstGeom>
        </p:spPr>
      </p:pic>
      <p:pic>
        <p:nvPicPr>
          <p:cNvPr id="13" name="Imagen 12" descr="Imagen que contiene Calendario&#10;&#10;El contenido generado por IA puede ser incorrecto.">
            <a:extLst>
              <a:ext uri="{FF2B5EF4-FFF2-40B4-BE49-F238E27FC236}">
                <a16:creationId xmlns:a16="http://schemas.microsoft.com/office/drawing/2014/main" id="{FA88CD22-4F6B-6482-1BB6-D5492899AE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584" b="30639"/>
          <a:stretch>
            <a:fillRect/>
          </a:stretch>
        </p:blipFill>
        <p:spPr>
          <a:xfrm>
            <a:off x="0" y="2895599"/>
            <a:ext cx="4293631" cy="954083"/>
          </a:xfrm>
          <a:prstGeom prst="rect">
            <a:avLst/>
          </a:prstGeom>
        </p:spPr>
      </p:pic>
      <p:pic>
        <p:nvPicPr>
          <p:cNvPr id="19" name="Imagen 18" descr="Calendario&#10;&#10;El contenido generado por IA puede ser incorrecto.">
            <a:extLst>
              <a:ext uri="{FF2B5EF4-FFF2-40B4-BE49-F238E27FC236}">
                <a16:creationId xmlns:a16="http://schemas.microsoft.com/office/drawing/2014/main" id="{C72213DD-0EFC-FCE2-5699-448FFC6EDF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475" b="32254"/>
          <a:stretch>
            <a:fillRect/>
          </a:stretch>
        </p:blipFill>
        <p:spPr>
          <a:xfrm>
            <a:off x="0" y="3851713"/>
            <a:ext cx="4327050" cy="1159198"/>
          </a:xfrm>
          <a:prstGeom prst="rect">
            <a:avLst/>
          </a:prstGeom>
        </p:spPr>
      </p:pic>
      <p:pic>
        <p:nvPicPr>
          <p:cNvPr id="23" name="Imagen 22" descr="Imagen que contiene Calendario&#10;&#10;El contenido generado por IA puede ser incorrecto.">
            <a:extLst>
              <a:ext uri="{FF2B5EF4-FFF2-40B4-BE49-F238E27FC236}">
                <a16:creationId xmlns:a16="http://schemas.microsoft.com/office/drawing/2014/main" id="{03222EBC-04BF-1C5C-13FA-50CAC8D3AC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250" b="31129"/>
          <a:stretch>
            <a:fillRect/>
          </a:stretch>
        </p:blipFill>
        <p:spPr>
          <a:xfrm>
            <a:off x="0" y="5117110"/>
            <a:ext cx="4293631" cy="1056990"/>
          </a:xfrm>
          <a:prstGeom prst="rect">
            <a:avLst/>
          </a:prstGeom>
        </p:spPr>
      </p:pic>
      <p:pic>
        <p:nvPicPr>
          <p:cNvPr id="25" name="Imagen 24" descr="Imagen que contiene Calendario&#10;&#10;El contenido generado por IA puede ser incorrecto.">
            <a:extLst>
              <a:ext uri="{FF2B5EF4-FFF2-40B4-BE49-F238E27FC236}">
                <a16:creationId xmlns:a16="http://schemas.microsoft.com/office/drawing/2014/main" id="{DD68354C-FBE6-2554-5155-7C9AA701CF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3975" b="31111"/>
          <a:stretch>
            <a:fillRect/>
          </a:stretch>
        </p:blipFill>
        <p:spPr>
          <a:xfrm>
            <a:off x="5285755" y="47997"/>
            <a:ext cx="5037821" cy="109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49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78026-42D5-6076-6F56-674AE619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4C1374B1-123D-B341-E468-E3ED1F2EC217}"/>
              </a:ext>
            </a:extLst>
          </p:cNvPr>
          <p:cNvGrpSpPr/>
          <p:nvPr/>
        </p:nvGrpSpPr>
        <p:grpSpPr>
          <a:xfrm>
            <a:off x="95903" y="1240668"/>
            <a:ext cx="12000194" cy="4657090"/>
            <a:chOff x="95903" y="1240668"/>
            <a:chExt cx="12000194" cy="4657090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C59B5D9F-FCBC-C654-954B-372EDDCB389D}"/>
                </a:ext>
              </a:extLst>
            </p:cNvPr>
            <p:cNvGrpSpPr/>
            <p:nvPr/>
          </p:nvGrpSpPr>
          <p:grpSpPr>
            <a:xfrm>
              <a:off x="95903" y="1243372"/>
              <a:ext cx="5908379" cy="4654386"/>
              <a:chOff x="0" y="48820"/>
              <a:chExt cx="5908379" cy="4654386"/>
            </a:xfrm>
          </p:grpSpPr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AD01C759-40C6-FB9D-9BB9-2075170CAB18}"/>
                  </a:ext>
                </a:extLst>
              </p:cNvPr>
              <p:cNvSpPr txBox="1"/>
              <p:nvPr/>
            </p:nvSpPr>
            <p:spPr>
              <a:xfrm>
                <a:off x="4747091" y="902876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Query 6</a:t>
                </a:r>
              </a:p>
            </p:txBody>
          </p:sp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0E23CFCA-CA3B-5E91-E2AE-E7CB45870025}"/>
                  </a:ext>
                </a:extLst>
              </p:cNvPr>
              <p:cNvSpPr txBox="1"/>
              <p:nvPr/>
            </p:nvSpPr>
            <p:spPr>
              <a:xfrm>
                <a:off x="4747091" y="3293450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Query 8</a:t>
                </a:r>
              </a:p>
            </p:txBody>
          </p:sp>
          <p:pic>
            <p:nvPicPr>
              <p:cNvPr id="3" name="Imagen 2" descr="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60DDD7CB-68E5-C860-8D3E-5D56B22F3A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48820"/>
                <a:ext cx="4747091" cy="2383698"/>
              </a:xfrm>
              <a:prstGeom prst="rect">
                <a:avLst/>
              </a:prstGeom>
            </p:spPr>
          </p:pic>
          <p:pic>
            <p:nvPicPr>
              <p:cNvPr id="7" name="Imagen 6" descr="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4EA9A16F-65A0-35C1-291E-C744F0B2A1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2527041"/>
                <a:ext cx="4748400" cy="2176165"/>
              </a:xfrm>
              <a:prstGeom prst="rect">
                <a:avLst/>
              </a:prstGeom>
            </p:spPr>
          </p:pic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8C6DB248-489F-A6FC-4B11-FC8F921682A8}"/>
                </a:ext>
              </a:extLst>
            </p:cNvPr>
            <p:cNvGrpSpPr/>
            <p:nvPr/>
          </p:nvGrpSpPr>
          <p:grpSpPr>
            <a:xfrm>
              <a:off x="6333485" y="1240668"/>
              <a:ext cx="5762612" cy="4657090"/>
              <a:chOff x="6472438" y="46115"/>
              <a:chExt cx="5762612" cy="4657090"/>
            </a:xfrm>
          </p:grpSpPr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7065E0BB-09C7-B185-C650-9010B7DAEABD}"/>
                  </a:ext>
                </a:extLst>
              </p:cNvPr>
              <p:cNvSpPr txBox="1"/>
              <p:nvPr/>
            </p:nvSpPr>
            <p:spPr>
              <a:xfrm>
                <a:off x="6472438" y="902876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Query 9</a:t>
                </a:r>
              </a:p>
            </p:txBody>
          </p: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656FDA7E-63EF-06EF-3081-BBDCF5893098}"/>
                  </a:ext>
                </a:extLst>
              </p:cNvPr>
              <p:cNvSpPr txBox="1"/>
              <p:nvPr/>
            </p:nvSpPr>
            <p:spPr>
              <a:xfrm>
                <a:off x="6472438" y="3293450"/>
                <a:ext cx="11612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dirty="0"/>
                  <a:t>Query 10</a:t>
                </a:r>
              </a:p>
            </p:txBody>
          </p:sp>
          <p:pic>
            <p:nvPicPr>
              <p:cNvPr id="11" name="Imagen 10" descr="Tabla&#10;&#10;El contenido generado por IA puede ser incorrecto.">
                <a:extLst>
                  <a:ext uri="{FF2B5EF4-FFF2-40B4-BE49-F238E27FC236}">
                    <a16:creationId xmlns:a16="http://schemas.microsoft.com/office/drawing/2014/main" id="{EF0991F3-B03B-5FC1-228B-282EDB84AE9D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43600" y="46115"/>
                <a:ext cx="4748400" cy="2292639"/>
              </a:xfrm>
              <a:prstGeom prst="rect">
                <a:avLst/>
              </a:prstGeom>
            </p:spPr>
          </p:pic>
          <p:pic>
            <p:nvPicPr>
              <p:cNvPr id="16" name="Imagen 15" descr="Escala de tiempo&#10;&#10;El contenido generado por IA puede ser incorrecto.">
                <a:extLst>
                  <a:ext uri="{FF2B5EF4-FFF2-40B4-BE49-F238E27FC236}">
                    <a16:creationId xmlns:a16="http://schemas.microsoft.com/office/drawing/2014/main" id="{4C4067D1-A0EC-097A-5A48-5F2CEF3183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86650" y="2527041"/>
                <a:ext cx="4748400" cy="2176164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55876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5CCE092-98FD-9F63-0AF5-F1542453D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195" y="2225675"/>
            <a:ext cx="4876800" cy="2406650"/>
          </a:xfrm>
          <a:prstGeom prst="rect">
            <a:avLst/>
          </a:prstGeom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8C19BFB2-26F8-FA4C-D4F9-E9F4DC062861}"/>
              </a:ext>
            </a:extLst>
          </p:cNvPr>
          <p:cNvGrpSpPr/>
          <p:nvPr/>
        </p:nvGrpSpPr>
        <p:grpSpPr>
          <a:xfrm>
            <a:off x="0" y="48820"/>
            <a:ext cx="5908379" cy="4654386"/>
            <a:chOff x="0" y="48820"/>
            <a:chExt cx="5908379" cy="4654386"/>
          </a:xfrm>
        </p:grpSpPr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88A5DF86-C684-2892-81EF-7E8E14362EE9}"/>
                </a:ext>
              </a:extLst>
            </p:cNvPr>
            <p:cNvSpPr txBox="1"/>
            <p:nvPr/>
          </p:nvSpPr>
          <p:spPr>
            <a:xfrm>
              <a:off x="4747091" y="902876"/>
              <a:ext cx="11612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Query 6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778F5391-C17C-4E85-2164-1B7E062A0612}"/>
                </a:ext>
              </a:extLst>
            </p:cNvPr>
            <p:cNvSpPr txBox="1"/>
            <p:nvPr/>
          </p:nvSpPr>
          <p:spPr>
            <a:xfrm>
              <a:off x="4747091" y="3293450"/>
              <a:ext cx="11612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Query 8</a:t>
              </a:r>
            </a:p>
          </p:txBody>
        </p:sp>
        <p:pic>
          <p:nvPicPr>
            <p:cNvPr id="13" name="Imagen 12" descr="Escala de tiempo&#10;&#10;El contenido generado por IA puede ser incorrecto.">
              <a:extLst>
                <a:ext uri="{FF2B5EF4-FFF2-40B4-BE49-F238E27FC236}">
                  <a16:creationId xmlns:a16="http://schemas.microsoft.com/office/drawing/2014/main" id="{D426BA6F-9C54-C51E-C894-7807039F1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8820"/>
              <a:ext cx="4747091" cy="2383698"/>
            </a:xfrm>
            <a:prstGeom prst="rect">
              <a:avLst/>
            </a:prstGeom>
          </p:spPr>
        </p:pic>
        <p:pic>
          <p:nvPicPr>
            <p:cNvPr id="14" name="Imagen 13" descr="Escala de tiempo&#10;&#10;El contenido generado por IA puede ser incorrecto.">
              <a:extLst>
                <a:ext uri="{FF2B5EF4-FFF2-40B4-BE49-F238E27FC236}">
                  <a16:creationId xmlns:a16="http://schemas.microsoft.com/office/drawing/2014/main" id="{C6D57EC7-AC0B-5E7C-2869-286DCE2EE2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527041"/>
              <a:ext cx="4748400" cy="2176165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E3E860D3-E5CB-672C-2711-83341758B574}"/>
              </a:ext>
            </a:extLst>
          </p:cNvPr>
          <p:cNvGrpSpPr/>
          <p:nvPr/>
        </p:nvGrpSpPr>
        <p:grpSpPr>
          <a:xfrm>
            <a:off x="6472438" y="46115"/>
            <a:ext cx="5762612" cy="4657090"/>
            <a:chOff x="6472438" y="46115"/>
            <a:chExt cx="5762612" cy="4657090"/>
          </a:xfrm>
        </p:grpSpPr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B25C0560-E2B7-E7D5-3669-FDE8402A2B7A}"/>
                </a:ext>
              </a:extLst>
            </p:cNvPr>
            <p:cNvSpPr txBox="1"/>
            <p:nvPr/>
          </p:nvSpPr>
          <p:spPr>
            <a:xfrm>
              <a:off x="6472438" y="902876"/>
              <a:ext cx="11612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Query 9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D0EF0219-F40B-C3EE-0735-479E6C98B587}"/>
                </a:ext>
              </a:extLst>
            </p:cNvPr>
            <p:cNvSpPr txBox="1"/>
            <p:nvPr/>
          </p:nvSpPr>
          <p:spPr>
            <a:xfrm>
              <a:off x="6472438" y="3293450"/>
              <a:ext cx="11612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Query 10</a:t>
              </a:r>
            </a:p>
          </p:txBody>
        </p:sp>
        <p:pic>
          <p:nvPicPr>
            <p:cNvPr id="18" name="Imagen 17" descr="Tabla&#10;&#10;El contenido generado por IA puede ser incorrecto.">
              <a:extLst>
                <a:ext uri="{FF2B5EF4-FFF2-40B4-BE49-F238E27FC236}">
                  <a16:creationId xmlns:a16="http://schemas.microsoft.com/office/drawing/2014/main" id="{E7B87DA0-59A4-833B-CA1A-C2FD3AE5F1E1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43600" y="46115"/>
              <a:ext cx="4748400" cy="2292639"/>
            </a:xfrm>
            <a:prstGeom prst="rect">
              <a:avLst/>
            </a:prstGeom>
          </p:spPr>
        </p:pic>
        <p:pic>
          <p:nvPicPr>
            <p:cNvPr id="19" name="Imagen 18" descr="Escala de tiempo&#10;&#10;El contenido generado por IA puede ser incorrecto.">
              <a:extLst>
                <a:ext uri="{FF2B5EF4-FFF2-40B4-BE49-F238E27FC236}">
                  <a16:creationId xmlns:a16="http://schemas.microsoft.com/office/drawing/2014/main" id="{735A55BD-635E-8F9D-BF62-FDA17F80E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6650" y="2527041"/>
              <a:ext cx="4748400" cy="21761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630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8D8B8775-2DD5-1678-38A8-56040E129D01}"/>
              </a:ext>
            </a:extLst>
          </p:cNvPr>
          <p:cNvSpPr/>
          <p:nvPr/>
        </p:nvSpPr>
        <p:spPr>
          <a:xfrm>
            <a:off x="2340290" y="1533997"/>
            <a:ext cx="1158240" cy="259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1CEC0DC-E4AA-FD02-9321-F077FAAD1302}"/>
              </a:ext>
            </a:extLst>
          </p:cNvPr>
          <p:cNvGrpSpPr/>
          <p:nvPr/>
        </p:nvGrpSpPr>
        <p:grpSpPr>
          <a:xfrm>
            <a:off x="171106" y="731865"/>
            <a:ext cx="8376127" cy="2122424"/>
            <a:chOff x="442911" y="1481931"/>
            <a:chExt cx="11500230" cy="3689092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9D39512E-E339-1C6A-854C-8B64CD9AA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6056" y="1579717"/>
              <a:ext cx="11487085" cy="3591306"/>
            </a:xfrm>
            <a:prstGeom prst="rect">
              <a:avLst/>
            </a:prstGeom>
          </p:spPr>
        </p:pic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40EBE08C-099C-3766-BBE8-BE00B92CFA0B}"/>
                </a:ext>
              </a:extLst>
            </p:cNvPr>
            <p:cNvSpPr/>
            <p:nvPr/>
          </p:nvSpPr>
          <p:spPr>
            <a:xfrm>
              <a:off x="442911" y="1481931"/>
              <a:ext cx="1209675" cy="349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6FB930B-030D-8A3A-F782-DFABDE574B4A}"/>
              </a:ext>
            </a:extLst>
          </p:cNvPr>
          <p:cNvSpPr txBox="1"/>
          <p:nvPr/>
        </p:nvSpPr>
        <p:spPr>
          <a:xfrm>
            <a:off x="3047238" y="4519386"/>
            <a:ext cx="6094476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rtl="0" fontAlgn="base">
              <a:spcBef>
                <a:spcPts val="1200"/>
              </a:spcBef>
              <a:buFont typeface="+mj-lt"/>
              <a:buAutoNum type="arabicPeriod"/>
            </a:pPr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Primera etapa (5 a 7 días tras contagio):</a:t>
            </a:r>
            <a:endParaRPr lang="es-MX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s-MX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Ciclos febriles cada 24 a 36 horas con temperaturas cercanas a 41°C.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s-MX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Síntomas asociados: vómitos, diarreas, dolores musculares intensos, cefaleas severas.</a:t>
            </a:r>
          </a:p>
          <a:p>
            <a:pPr marL="457200" rtl="0" fontAlgn="base">
              <a:buFont typeface="+mj-lt"/>
              <a:buAutoNum type="arabicPeriod"/>
            </a:pPr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Segunda etapa (7 a 10 días desde el inicio):</a:t>
            </a:r>
            <a:endParaRPr lang="es-MX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s-MX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Espasmos musculares.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s-MX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Dificultad para respirar.</a:t>
            </a:r>
          </a:p>
          <a:p>
            <a:pPr marL="457200" rtl="0" fontAlgn="base">
              <a:buFont typeface="+mj-lt"/>
              <a:buAutoNum type="arabicPeriod"/>
            </a:pPr>
            <a:r>
              <a:rPr lang="es-MX" sz="12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Tercera etapa (10 a 12 días desde el inicio):</a:t>
            </a:r>
            <a:endParaRPr lang="es-MX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s-MX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Requiere ventilación mecánica en la mayoría de los pacientes.</a:t>
            </a:r>
          </a:p>
          <a:p>
            <a:pPr marL="742950" lvl="1" indent="-285750" rtl="0" fontAlgn="base">
              <a:buFont typeface="Arial" panose="020B0604020202020204" pitchFamily="34" charset="0"/>
              <a:buChar char="•"/>
            </a:pPr>
            <a:r>
              <a:rPr lang="es-MX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Sangrado difuso por mucosas: tracto digestivo, ojos, boca, nariz y ano.</a:t>
            </a:r>
          </a:p>
          <a:p>
            <a:pPr marL="742950" lvl="1" indent="-285750" rtl="0" fontAlgn="base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MX" sz="12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Inflamación aguda de labios y ojos.</a:t>
            </a:r>
          </a:p>
        </p:txBody>
      </p:sp>
    </p:spTree>
    <p:extLst>
      <p:ext uri="{BB962C8B-B14F-4D97-AF65-F5344CB8AC3E}">
        <p14:creationId xmlns:p14="http://schemas.microsoft.com/office/powerpoint/2010/main" val="1432625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9561D7B2-C4EE-6658-3B62-94FCEADDD1BB}"/>
              </a:ext>
            </a:extLst>
          </p:cNvPr>
          <p:cNvSpPr txBox="1"/>
          <p:nvPr/>
        </p:nvSpPr>
        <p:spPr>
          <a:xfrm>
            <a:off x="876693" y="741391"/>
            <a:ext cx="538694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0" i="0" u="none" strike="noStrike" dirty="0" err="1">
                <a:effectLst/>
                <a:latin typeface="+mj-lt"/>
                <a:ea typeface="+mj-ea"/>
                <a:cs typeface="+mj-cs"/>
              </a:rPr>
              <a:t>Identificación</a:t>
            </a:r>
            <a:r>
              <a:rPr lang="en-US" sz="3200" b="0" i="0" u="none" strike="noStrike" dirty="0">
                <a:effectLst/>
                <a:latin typeface="+mj-lt"/>
                <a:ea typeface="+mj-ea"/>
                <a:cs typeface="+mj-cs"/>
              </a:rPr>
              <a:t> del </a:t>
            </a:r>
            <a:r>
              <a:rPr lang="en-US" sz="3200" b="0" i="0" u="none" strike="noStrike" dirty="0" err="1">
                <a:effectLst/>
                <a:latin typeface="+mj-lt"/>
                <a:ea typeface="+mj-ea"/>
                <a:cs typeface="+mj-cs"/>
              </a:rPr>
              <a:t>patógeno</a:t>
            </a:r>
            <a:endParaRPr lang="en-US" sz="3200" b="0" dirty="0">
              <a:effectLst/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br>
              <a:rPr lang="en-US" sz="3200" dirty="0">
                <a:latin typeface="+mj-lt"/>
                <a:ea typeface="+mj-ea"/>
                <a:cs typeface="+mj-cs"/>
              </a:rPr>
            </a:br>
            <a:endParaRPr lang="en-US" sz="320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3F92E4-8BB2-E487-3C0C-E22C91588602}"/>
              </a:ext>
            </a:extLst>
          </p:cNvPr>
          <p:cNvSpPr txBox="1"/>
          <p:nvPr/>
        </p:nvSpPr>
        <p:spPr>
          <a:xfrm>
            <a:off x="7513479" y="6061088"/>
            <a:ext cx="4322836" cy="5324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50" b="0" i="0" u="none" strike="noStrike" dirty="0">
                <a:effectLst/>
              </a:rPr>
              <a:t>Ghosh S, Saha A, Samanta S, Saha RP. Genome structure and genetic diversity in the Ebola virus. Vol. 60, Current Opinion in Pharmacology. Elsevier Ltd; 2021. p. 83–90. </a:t>
            </a:r>
            <a:endParaRPr lang="en-US" sz="105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458E20D-E7AD-9799-4668-F4823D567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63639" y="466165"/>
            <a:ext cx="5572676" cy="1950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C90A2B0-8593-C288-9BCE-5D56F0E41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7534" y="3522518"/>
            <a:ext cx="3855330" cy="245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42" name="Group 1031">
            <a:extLst>
              <a:ext uri="{FF2B5EF4-FFF2-40B4-BE49-F238E27FC236}">
                <a16:creationId xmlns:a16="http://schemas.microsoft.com/office/drawing/2014/main" id="{430A7723-91ED-264B-172A-DC8EB7D4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FF1C10FB-A508-9184-DF05-6C4BFC6506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Rectangle 1033">
              <a:extLst>
                <a:ext uri="{FF2B5EF4-FFF2-40B4-BE49-F238E27FC236}">
                  <a16:creationId xmlns:a16="http://schemas.microsoft.com/office/drawing/2014/main" id="{F16E929D-9D28-E44C-7D82-8A13EB5AE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27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CB7C988-416B-D5F5-1FDC-CE17A1EABD51}"/>
              </a:ext>
            </a:extLst>
          </p:cNvPr>
          <p:cNvSpPr txBox="1"/>
          <p:nvPr/>
        </p:nvSpPr>
        <p:spPr>
          <a:xfrm>
            <a:off x="546847" y="1689847"/>
            <a:ext cx="5114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Patógeno identificado: </a:t>
            </a:r>
            <a:r>
              <a:rPr lang="es-CL" i="1" dirty="0"/>
              <a:t>Zaire </a:t>
            </a:r>
            <a:r>
              <a:rPr lang="es-CL" i="1" dirty="0" err="1"/>
              <a:t>ebolavirus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BE1D73-7703-635D-38B6-953C4CBFBB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97" y="2746274"/>
            <a:ext cx="6967860" cy="347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51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E857F4C-66BA-69D5-6427-E0A1E7F4A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03" y="1086254"/>
            <a:ext cx="5651456" cy="4685489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E7194E1B-83DE-3928-4367-833FFB3EA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50441" y="2336725"/>
            <a:ext cx="6241559" cy="218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197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7335-30AA-ABEF-53B5-C43EB52D5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0A5951-E727-478F-66B2-00811896F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Proteina</a:t>
            </a:r>
            <a:r>
              <a:rPr lang="es-CL" dirty="0"/>
              <a:t> </a:t>
            </a:r>
            <a:r>
              <a:rPr lang="es-CL" dirty="0" err="1"/>
              <a:t>Glycoprotein</a:t>
            </a:r>
            <a:r>
              <a:rPr lang="es-CL" dirty="0"/>
              <a:t> (GP) (5JQ3) – </a:t>
            </a:r>
            <a:r>
              <a:rPr lang="es-CL" i="1" dirty="0"/>
              <a:t>Zaire </a:t>
            </a:r>
            <a:r>
              <a:rPr lang="es-CL" i="1" dirty="0" err="1"/>
              <a:t>ebolavirus</a:t>
            </a:r>
            <a:endParaRPr lang="es-CL" dirty="0"/>
          </a:p>
        </p:txBody>
      </p:sp>
      <p:pic>
        <p:nvPicPr>
          <p:cNvPr id="7" name="Imagen 6" descr="Mapa de colores&#10;&#10;El contenido generado por IA puede ser incorrecto.">
            <a:extLst>
              <a:ext uri="{FF2B5EF4-FFF2-40B4-BE49-F238E27FC236}">
                <a16:creationId xmlns:a16="http://schemas.microsoft.com/office/drawing/2014/main" id="{74F681B9-378D-2635-4FE2-EB43AFEBA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30" t="8124" r="7058" b="10633"/>
          <a:stretch>
            <a:fillRect/>
          </a:stretch>
        </p:blipFill>
        <p:spPr>
          <a:xfrm>
            <a:off x="295838" y="3001122"/>
            <a:ext cx="5338482" cy="3406589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C99E98-BDBA-CC03-A454-C4DEA95C9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36128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0FE47-040D-0854-7D02-5FBB9CDF9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Matrix Protein VP40 (4LBD) – </a:t>
            </a:r>
            <a:r>
              <a:rPr lang="es-CL" i="1" dirty="0"/>
              <a:t>Zaire ebolavirus</a:t>
            </a:r>
            <a:endParaRPr lang="es-CL" dirty="0"/>
          </a:p>
        </p:txBody>
      </p:sp>
      <p:pic>
        <p:nvPicPr>
          <p:cNvPr id="7" name="Imagen 6" descr="Un dibujo de una persona&#10;&#10;El contenido generado por IA puede ser incorrecto.">
            <a:extLst>
              <a:ext uri="{FF2B5EF4-FFF2-40B4-BE49-F238E27FC236}">
                <a16:creationId xmlns:a16="http://schemas.microsoft.com/office/drawing/2014/main" id="{D6E9738B-D350-4113-B001-BE430DD3F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0" t="2155" r="16437" b="4694"/>
          <a:stretch>
            <a:fillRect/>
          </a:stretch>
        </p:blipFill>
        <p:spPr>
          <a:xfrm>
            <a:off x="300319" y="2326926"/>
            <a:ext cx="4846865" cy="3984974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A5E9A1-B85E-F14D-5AAD-E6A3B5581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618964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05CFE1AE-AB19-67CB-3423-91C83DD70F03}"/>
              </a:ext>
            </a:extLst>
          </p:cNvPr>
          <p:cNvGrpSpPr/>
          <p:nvPr/>
        </p:nvGrpSpPr>
        <p:grpSpPr>
          <a:xfrm>
            <a:off x="643467" y="878525"/>
            <a:ext cx="10905065" cy="4712895"/>
            <a:chOff x="643467" y="891108"/>
            <a:chExt cx="10905065" cy="4712895"/>
          </a:xfrm>
        </p:grpSpPr>
        <p:pic>
          <p:nvPicPr>
            <p:cNvPr id="4" name="Imagen 3" descr="Mapa de colores&#10;&#10;El contenido generado por IA puede ser incorrecto.">
              <a:extLst>
                <a:ext uri="{FF2B5EF4-FFF2-40B4-BE49-F238E27FC236}">
                  <a16:creationId xmlns:a16="http://schemas.microsoft.com/office/drawing/2014/main" id="{8A4EAA5A-D174-3A7D-7AF1-7BA0276FC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130" t="8124" r="7058" b="10633"/>
            <a:stretch>
              <a:fillRect/>
            </a:stretch>
          </p:blipFill>
          <p:spPr>
            <a:xfrm>
              <a:off x="643467" y="1740951"/>
              <a:ext cx="5291666" cy="3376097"/>
            </a:xfrm>
            <a:prstGeom prst="rect">
              <a:avLst/>
            </a:prstGeom>
          </p:spPr>
        </p:pic>
        <p:pic>
          <p:nvPicPr>
            <p:cNvPr id="5" name="Imagen 4" descr="Un dibujo de una persona&#10;&#10;El contenido generado por IA puede ser incorrecto.">
              <a:extLst>
                <a:ext uri="{FF2B5EF4-FFF2-40B4-BE49-F238E27FC236}">
                  <a16:creationId xmlns:a16="http://schemas.microsoft.com/office/drawing/2014/main" id="{DA6F4078-D2E7-E21D-45D7-A646D404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990" t="2155" r="16437" b="4694"/>
            <a:stretch>
              <a:fillRect/>
            </a:stretch>
          </p:blipFill>
          <p:spPr>
            <a:xfrm>
              <a:off x="6256865" y="1253997"/>
              <a:ext cx="5291667" cy="4350006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D7F26E0-53B2-8381-E14C-EEAA7F886235}"/>
                </a:ext>
              </a:extLst>
            </p:cNvPr>
            <p:cNvSpPr txBox="1"/>
            <p:nvPr/>
          </p:nvSpPr>
          <p:spPr>
            <a:xfrm>
              <a:off x="1222685" y="891108"/>
              <a:ext cx="70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A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81A018C3-63C5-3125-A2F4-2983384BC87D}"/>
                </a:ext>
              </a:extLst>
            </p:cNvPr>
            <p:cNvSpPr txBox="1"/>
            <p:nvPr/>
          </p:nvSpPr>
          <p:spPr>
            <a:xfrm>
              <a:off x="6695638" y="891108"/>
              <a:ext cx="70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0713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734E36-069B-CF3F-F9E1-833B4AEA4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47503"/>
            <a:ext cx="10909643" cy="552659"/>
          </a:xfrm>
        </p:spPr>
        <p:txBody>
          <a:bodyPr anchor="ctr">
            <a:normAutofit/>
          </a:bodyPr>
          <a:lstStyle/>
          <a:p>
            <a:r>
              <a:rPr lang="es-CL" dirty="0" err="1"/>
              <a:t>Proteina</a:t>
            </a:r>
            <a:r>
              <a:rPr lang="es-CL" dirty="0"/>
              <a:t> </a:t>
            </a:r>
            <a:r>
              <a:rPr lang="es-CL" dirty="0" err="1"/>
              <a:t>Glycoprotein</a:t>
            </a:r>
            <a:r>
              <a:rPr lang="es-CL" dirty="0"/>
              <a:t> (GP) (5JQ3) + </a:t>
            </a:r>
            <a:r>
              <a:rPr lang="es-CL" dirty="0" err="1"/>
              <a:t>Pockets</a:t>
            </a:r>
            <a:r>
              <a:rPr lang="es-CL" dirty="0"/>
              <a:t> calculado por </a:t>
            </a:r>
            <a:r>
              <a:rPr lang="es-CL" dirty="0" err="1"/>
              <a:t>LigandScout</a:t>
            </a:r>
            <a:r>
              <a:rPr lang="es-CL" dirty="0"/>
              <a:t> 4.4.6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B6356213-218E-FB16-85B0-8C572807387D}"/>
              </a:ext>
            </a:extLst>
          </p:cNvPr>
          <p:cNvGrpSpPr/>
          <p:nvPr/>
        </p:nvGrpSpPr>
        <p:grpSpPr>
          <a:xfrm>
            <a:off x="0" y="1417914"/>
            <a:ext cx="12192000" cy="4022171"/>
            <a:chOff x="0" y="1417914"/>
            <a:chExt cx="12192000" cy="4022171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1B1CF023-7959-091A-4742-E9E867755D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17914"/>
              <a:ext cx="12192000" cy="4022171"/>
            </a:xfrm>
            <a:prstGeom prst="rect">
              <a:avLst/>
            </a:prstGeom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EC92D8D-4A2D-F40C-981D-8F5AA017608B}"/>
                </a:ext>
              </a:extLst>
            </p:cNvPr>
            <p:cNvSpPr txBox="1"/>
            <p:nvPr/>
          </p:nvSpPr>
          <p:spPr>
            <a:xfrm>
              <a:off x="526725" y="1417914"/>
              <a:ext cx="70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A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B7650E7D-2987-D068-9148-481665739742}"/>
                </a:ext>
              </a:extLst>
            </p:cNvPr>
            <p:cNvSpPr txBox="1"/>
            <p:nvPr/>
          </p:nvSpPr>
          <p:spPr>
            <a:xfrm>
              <a:off x="7741920" y="1417914"/>
              <a:ext cx="431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23251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4A61F-CFE1-EDC8-3ABA-F038B319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3225C4-8C99-2905-E21A-CE5CA43A9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47503"/>
            <a:ext cx="10909643" cy="552659"/>
          </a:xfrm>
        </p:spPr>
        <p:txBody>
          <a:bodyPr anchor="ctr">
            <a:normAutofit/>
          </a:bodyPr>
          <a:lstStyle/>
          <a:p>
            <a:r>
              <a:rPr lang="es-CL" dirty="0" err="1"/>
              <a:t>Proteina</a:t>
            </a:r>
            <a:r>
              <a:rPr lang="es-CL" dirty="0"/>
              <a:t> VP40 (4LDB) + </a:t>
            </a:r>
            <a:r>
              <a:rPr lang="es-CL" dirty="0" err="1"/>
              <a:t>Pockets</a:t>
            </a:r>
            <a:r>
              <a:rPr lang="es-CL" dirty="0"/>
              <a:t> calculado por </a:t>
            </a:r>
            <a:r>
              <a:rPr lang="es-CL" dirty="0" err="1"/>
              <a:t>LigandScout</a:t>
            </a:r>
            <a:r>
              <a:rPr lang="es-CL" dirty="0"/>
              <a:t> 4.4.6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75AE387-F317-A1D3-57AE-6308B625E72E}"/>
              </a:ext>
            </a:extLst>
          </p:cNvPr>
          <p:cNvGrpSpPr/>
          <p:nvPr/>
        </p:nvGrpSpPr>
        <p:grpSpPr>
          <a:xfrm>
            <a:off x="0" y="921244"/>
            <a:ext cx="12192000" cy="5015511"/>
            <a:chOff x="0" y="921244"/>
            <a:chExt cx="12192000" cy="5015511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BBF12478-123F-C174-B1D7-DA3297363A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21244"/>
              <a:ext cx="12192000" cy="5015511"/>
            </a:xfrm>
            <a:prstGeom prst="rect">
              <a:avLst/>
            </a:prstGeom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B594B8D2-3796-67C6-8E11-A163A5897CAF}"/>
                </a:ext>
              </a:extLst>
            </p:cNvPr>
            <p:cNvSpPr txBox="1"/>
            <p:nvPr/>
          </p:nvSpPr>
          <p:spPr>
            <a:xfrm>
              <a:off x="374325" y="1113114"/>
              <a:ext cx="7037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A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D0DB503-12B9-A00F-DA64-6413BC317047}"/>
                </a:ext>
              </a:extLst>
            </p:cNvPr>
            <p:cNvSpPr txBox="1"/>
            <p:nvPr/>
          </p:nvSpPr>
          <p:spPr>
            <a:xfrm>
              <a:off x="7198360" y="1113114"/>
              <a:ext cx="4316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86963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755CF51-3DF5-4A70-9160-C13A5F690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0" y="482227"/>
            <a:ext cx="12192000" cy="534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2836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0cd396c-97e3-4804-9651-7fd61551f07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A32A9C019F964EB84D3A8215E900AB" ma:contentTypeVersion="5" ma:contentTypeDescription="Create a new document." ma:contentTypeScope="" ma:versionID="8f9448e751b4fed432454dbc0a4e1a7b">
  <xsd:schema xmlns:xsd="http://www.w3.org/2001/XMLSchema" xmlns:xs="http://www.w3.org/2001/XMLSchema" xmlns:p="http://schemas.microsoft.com/office/2006/metadata/properties" xmlns:ns3="70cd396c-97e3-4804-9651-7fd61551f076" targetNamespace="http://schemas.microsoft.com/office/2006/metadata/properties" ma:root="true" ma:fieldsID="d1ba3e66549172f4557e5731685b783f" ns3:_="">
    <xsd:import namespace="70cd396c-97e3-4804-9651-7fd61551f076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cd396c-97e3-4804-9651-7fd61551f076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BB51DC-EB3A-41B7-A61F-1D58FF3D5C18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purl.org/dc/elements/1.1/"/>
    <ds:schemaRef ds:uri="70cd396c-97e3-4804-9651-7fd61551f076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E03E036-AE34-4ED3-AB9D-F535A944E7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200D60-C393-497F-BF27-B6ACDA0D09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cd396c-97e3-4804-9651-7fd61551f0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2568</TotalTime>
  <Words>257</Words>
  <Application>Microsoft Office PowerPoint</Application>
  <PresentationFormat>Panorámica</PresentationFormat>
  <Paragraphs>51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Tema de Office</vt:lpstr>
      <vt:lpstr>Blastn: Settings</vt:lpstr>
      <vt:lpstr>Presentación de PowerPoint</vt:lpstr>
      <vt:lpstr>Presentación de PowerPoint</vt:lpstr>
      <vt:lpstr>Presentación de PowerPoint</vt:lpstr>
      <vt:lpstr>Blastx: Settings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Proteina Glycoprotein (GP) (5JQ3) – Zaire ebolavirus</vt:lpstr>
      <vt:lpstr>Matrix Protein VP40 (4LBD) – Zaire ebolavirus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GARCIA OLAVE</dc:creator>
  <cp:lastModifiedBy>FELIPE GARCIA OLAVE</cp:lastModifiedBy>
  <cp:revision>17</cp:revision>
  <dcterms:created xsi:type="dcterms:W3CDTF">2025-07-15T15:05:06Z</dcterms:created>
  <dcterms:modified xsi:type="dcterms:W3CDTF">2025-07-22T21:22:14Z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4e9a4a-eb20-4aad-9a64-8872817c1a6f_Enabled">
    <vt:lpwstr>true</vt:lpwstr>
  </property>
  <property fmtid="{D5CDD505-2E9C-101B-9397-08002B2CF9AE}" pid="3" name="MSIP_Label_9f4e9a4a-eb20-4aad-9a64-8872817c1a6f_SetDate">
    <vt:lpwstr>2025-07-15T15:52:50Z</vt:lpwstr>
  </property>
  <property fmtid="{D5CDD505-2E9C-101B-9397-08002B2CF9AE}" pid="4" name="MSIP_Label_9f4e9a4a-eb20-4aad-9a64-8872817c1a6f_Method">
    <vt:lpwstr>Standard</vt:lpwstr>
  </property>
  <property fmtid="{D5CDD505-2E9C-101B-9397-08002B2CF9AE}" pid="5" name="MSIP_Label_9f4e9a4a-eb20-4aad-9a64-8872817c1a6f_Name">
    <vt:lpwstr>defa4170-0d19-0005-0004-bc88714345d2</vt:lpwstr>
  </property>
  <property fmtid="{D5CDD505-2E9C-101B-9397-08002B2CF9AE}" pid="6" name="MSIP_Label_9f4e9a4a-eb20-4aad-9a64-8872817c1a6f_SiteId">
    <vt:lpwstr>7a599002-001c-432c-846e-1ddca9f6b299</vt:lpwstr>
  </property>
  <property fmtid="{D5CDD505-2E9C-101B-9397-08002B2CF9AE}" pid="7" name="MSIP_Label_9f4e9a4a-eb20-4aad-9a64-8872817c1a6f_ActionId">
    <vt:lpwstr>031fb259-dae7-4233-b94d-5a718a184c84</vt:lpwstr>
  </property>
  <property fmtid="{D5CDD505-2E9C-101B-9397-08002B2CF9AE}" pid="8" name="MSIP_Label_9f4e9a4a-eb20-4aad-9a64-8872817c1a6f_ContentBits">
    <vt:lpwstr>0</vt:lpwstr>
  </property>
  <property fmtid="{D5CDD505-2E9C-101B-9397-08002B2CF9AE}" pid="9" name="MSIP_Label_9f4e9a4a-eb20-4aad-9a64-8872817c1a6f_Tag">
    <vt:lpwstr>10, 3, 0, 1</vt:lpwstr>
  </property>
  <property fmtid="{D5CDD505-2E9C-101B-9397-08002B2CF9AE}" pid="10" name="ContentTypeId">
    <vt:lpwstr>0x0101003CA32A9C019F964EB84D3A8215E900AB</vt:lpwstr>
  </property>
</Properties>
</file>